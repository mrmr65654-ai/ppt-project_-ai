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36815" y="-1463040"/>
            <a:ext cx="4937760" cy="4937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8335" y="-731520"/>
            <a:ext cx="3474720" cy="347472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9855" y="0"/>
            <a:ext cx="2011680" cy="201168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99855" y="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TRAVEL &amp; TOURISM COUNCIL  ×  MICROSOFT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1097280" cy="36576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2880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0" b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</a:t>
            </a:r>
            <a:endParaRPr lang="en-US" sz="7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200" b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Artificial Intelligence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for Travel &amp; Tourism Leaders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5486400"/>
            <a:ext cx="54864" cy="54864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486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2024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9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·  13 slides  ·  ~15 min read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WTTC × Microsoft  ·  Introduction to AI  ·  January 2024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4415" y="274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731520" cy="457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 to take you from foundations to industry application.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932688" y="3063240"/>
            <a:ext cx="548640" cy="36576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546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 History of AI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5661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Turing (1950) to ChatGPT (2022)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219456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3774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4773168" y="3063240"/>
            <a:ext cx="548640" cy="36576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1546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AI Works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35661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· Data · Computing power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0" y="219456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23774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8613648" y="3063240"/>
            <a:ext cx="548640" cy="36576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31546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AI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95360" y="35661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General &amp; Super Intelligence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34340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5262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932688" y="5212080"/>
            <a:ext cx="548640" cy="36576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303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57150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chatbots &amp; foundation models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80560" y="434340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45262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4773168" y="5212080"/>
            <a:ext cx="548640" cy="36576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5303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 Travel &amp; Tourism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754880" y="57150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systems, predictive AI, use cases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21040" y="434340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0" y="45262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600" dirty="0"/>
          </a:p>
        </p:txBody>
      </p:sp>
      <p:sp>
        <p:nvSpPr>
          <p:cNvPr id="36" name="Shape 34"/>
          <p:cNvSpPr/>
          <p:nvPr/>
        </p:nvSpPr>
        <p:spPr>
          <a:xfrm>
            <a:off x="8613648" y="5212080"/>
            <a:ext cx="548640" cy="36576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0" y="5303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Divide &amp; Skills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595360" y="57150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challenges &amp; training solutions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WTTC × Microsoft  ·  Introduction to AI  ·  January 2024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·  HISTORY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4415" y="274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Brief History of AI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731520" cy="457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Seventy years of breakthroughs that brought AI into everyday life.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54480" y="3657600"/>
            <a:ext cx="9082735" cy="36576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3529584"/>
            <a:ext cx="292608" cy="292608"/>
          </a:xfrm>
          <a:prstGeom prst="ellipse">
            <a:avLst/>
          </a:prstGeom>
          <a:solidFill>
            <a:srgbClr val="E07856"/>
          </a:solidFill>
          <a:ln w="25400">
            <a:solidFill>
              <a:srgbClr val="F8F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36192" y="3291840"/>
            <a:ext cx="36576" cy="329184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10312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762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25420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Turing Test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8529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Turing's seminal paper: 'Can machines think?'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03677" y="3529584"/>
            <a:ext cx="292608" cy="292608"/>
          </a:xfrm>
          <a:prstGeom prst="ellipse">
            <a:avLst/>
          </a:prstGeom>
          <a:solidFill>
            <a:srgbClr val="E07856"/>
          </a:solidFill>
          <a:ln w="25400">
            <a:solidFill>
              <a:srgbClr val="F8F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49981" y="3694176"/>
            <a:ext cx="36576" cy="329184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91029" y="393192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91029" y="40050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336749" y="43708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named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36749" y="46817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Conference establishes AI as a field.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17466" y="3529584"/>
            <a:ext cx="292608" cy="292608"/>
          </a:xfrm>
          <a:prstGeom prst="ellipse">
            <a:avLst/>
          </a:prstGeom>
          <a:solidFill>
            <a:srgbClr val="E07856"/>
          </a:solidFill>
          <a:ln w="25400">
            <a:solidFill>
              <a:srgbClr val="F8F5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63770" y="3291840"/>
            <a:ext cx="36576" cy="329184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04818" y="210312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04818" y="21762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850538" y="25420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Blue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50538" y="28529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defeats world chess champion Garry Kasparov.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31256" y="3529584"/>
            <a:ext cx="292608" cy="292608"/>
          </a:xfrm>
          <a:prstGeom prst="ellipse">
            <a:avLst/>
          </a:prstGeom>
          <a:solidFill>
            <a:srgbClr val="E07856"/>
          </a:solidFill>
          <a:ln w="25400">
            <a:solidFill>
              <a:srgbClr val="F8F5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77560" y="3694176"/>
            <a:ext cx="36576" cy="329184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18608" y="393192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18608" y="40050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64328" y="43708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Watson wins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64328" y="46817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 takes the Jeopardy! crown on live TV.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45045" y="3529584"/>
            <a:ext cx="292608" cy="292608"/>
          </a:xfrm>
          <a:prstGeom prst="ellipse">
            <a:avLst/>
          </a:prstGeom>
          <a:solidFill>
            <a:srgbClr val="E07856"/>
          </a:solidFill>
          <a:ln w="25400">
            <a:solidFill>
              <a:srgbClr val="F8F5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91349" y="3291840"/>
            <a:ext cx="36576" cy="329184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32397" y="210312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2397" y="21762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78117" y="25420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 art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78117" y="28529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portrait sold at Christie's for $432,500.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958834" y="3529584"/>
            <a:ext cx="292608" cy="292608"/>
          </a:xfrm>
          <a:prstGeom prst="ellipse">
            <a:avLst/>
          </a:prstGeom>
          <a:solidFill>
            <a:srgbClr val="E07856"/>
          </a:solidFill>
          <a:ln w="25400">
            <a:solidFill>
              <a:srgbClr val="F8F5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05138" y="3694176"/>
            <a:ext cx="36576" cy="329184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46186" y="393192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46186" y="40050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391906" y="43708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91906" y="46817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users in 2 months — fastest-growing product.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472623" y="3529584"/>
            <a:ext cx="292608" cy="292608"/>
          </a:xfrm>
          <a:prstGeom prst="ellipse">
            <a:avLst/>
          </a:prstGeom>
          <a:solidFill>
            <a:srgbClr val="E07856"/>
          </a:solidFill>
          <a:ln w="25400">
            <a:solidFill>
              <a:srgbClr val="F8F5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618927" y="3291840"/>
            <a:ext cx="36576" cy="329184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59975" y="210312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59975" y="21762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9905695" y="25420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Mainstream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905695" y="28529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Summit, Grammys &amp; deepfakes go viral.</a:t>
            </a:r>
            <a:endParaRPr lang="en-US" sz="900" dirty="0"/>
          </a:p>
        </p:txBody>
      </p:sp>
    </p:spTree>
  </p:cSld>
  <p:clrMapOvr>
    <a:masterClrMapping/>
  </p:clrMapOvr>
  <p:transition xmlns:p="http://schemas.openxmlformats.org/presentationml/2006/main" spd="med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WTTC × Microsoft  ·  Introduction to AI  ·  January 2024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·  HOW AI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4415" y="274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Core Elements of AI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731520" cy="457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direct the work. Data fuels the learning. Compute makes it possible at scale.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0848" y="201168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848" y="2011680"/>
            <a:ext cx="365760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6608" y="233172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6608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661008" y="2423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61008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6608" y="342900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telling computers how to perform tasks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rigid IF-THEN-ELSE logic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patterns from data — no hard-coded rules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Deep Learning techniques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· Unsupervised · Reinforcement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67048" y="201168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67048" y="2011680"/>
            <a:ext cx="3657600" cy="109728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32808" y="2331720"/>
            <a:ext cx="822960" cy="8229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2808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547208" y="2423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47208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32808" y="342900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zettabytes of global data expected by 2025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the world's data created in the last 2 years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29.3 billion networked devices worldwide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Data: volume, velocity, variety, veracity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lakes, warehouses &amp; lakehouses for AI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53248" y="201168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53248" y="2011680"/>
            <a:ext cx="3657600" cy="10972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19008" y="2331720"/>
            <a:ext cx="822960" cy="82296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19008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▣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433408" y="2423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433408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19008" y="342900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chips: parallel processing for AI workloads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TPUs (Google): matrix calculations for ML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trained on a 10,000 GPU supercomputer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passed $1T valuation in 2023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makes AI accessible to all</a:t>
            </a:r>
            <a:endParaRPr lang="en-US" sz="1300" dirty="0"/>
          </a:p>
        </p:txBody>
      </p:sp>
    </p:spTree>
  </p:cSld>
  <p:clrMapOvr>
    <a:masterClrMapping/>
  </p:clrMapOvr>
  <p:transition xmlns:p="http://schemas.openxmlformats.org/presentationml/2006/main" spd="med">
    <p:split orient="horz" dir="ou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WTTC × Microsoft  ·  Introduction to AI  ·  January 2024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 ·  TYPES OF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4415" y="274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AI — By Capability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731520" cy="457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spectrum from today's specialised tools to hypothetical superhuman intelligence.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0848" y="196596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848" y="1965960"/>
            <a:ext cx="3657600" cy="1554480"/>
          </a:xfrm>
          <a:prstGeom prst="roundRect">
            <a:avLst>
              <a:gd name="adj" fmla="val 882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0848" y="3383280"/>
            <a:ext cx="3657600" cy="137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848" y="21488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600" kern="0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563728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Narrow Intelligence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3728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2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known as Weak 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29488" y="3749040"/>
            <a:ext cx="2560320" cy="411480"/>
          </a:xfrm>
          <a:prstGeom prst="roundRect">
            <a:avLst>
              <a:gd name="adj" fmla="val 4888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488" y="3749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EXISTS TODAY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2328" y="43434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 filters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 (Siri, Alexa)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diagnosis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Chess-playing computers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67048" y="196596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67048" y="1965960"/>
            <a:ext cx="3657600" cy="1554480"/>
          </a:xfrm>
          <a:prstGeom prst="roundRect">
            <a:avLst>
              <a:gd name="adj" fmla="val 8824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67048" y="3383280"/>
            <a:ext cx="3657600" cy="13716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67048" y="21488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600" kern="0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AGI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4449928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General Intelligence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49928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2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known as Strong AI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15688" y="3749040"/>
            <a:ext cx="2560320" cy="411480"/>
          </a:xfrm>
          <a:prstGeom prst="roundRect">
            <a:avLst>
              <a:gd name="adj" fmla="val 48889"/>
            </a:avLst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5688" y="3749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YET ACHIEVED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78528" y="43434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knowledge across domains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robotics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goal for AI labs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shows early 'sparks' (MS, '23)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decision-making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53248" y="196596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53248" y="1965960"/>
            <a:ext cx="3657600" cy="1554480"/>
          </a:xfrm>
          <a:prstGeom prst="roundRect">
            <a:avLst>
              <a:gd name="adj" fmla="val 8824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53248" y="3383280"/>
            <a:ext cx="3657600" cy="13716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53248" y="21488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600" kern="0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</a:t>
            </a:r>
            <a:endParaRPr lang="en-US" sz="5400" dirty="0"/>
          </a:p>
        </p:txBody>
      </p:sp>
      <p:sp>
        <p:nvSpPr>
          <p:cNvPr id="31" name="Text 29"/>
          <p:cNvSpPr/>
          <p:nvPr/>
        </p:nvSpPr>
        <p:spPr>
          <a:xfrm>
            <a:off x="8336128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Super Intelligence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36128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2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/ Theoretical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701888" y="3749040"/>
            <a:ext cx="2560320" cy="411480"/>
          </a:xfrm>
          <a:prstGeom prst="roundRect">
            <a:avLst>
              <a:gd name="adj" fmla="val 48889"/>
            </a:avLst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01888" y="3749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THEORETICAL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64728" y="43434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with 'The Singularity'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growth becomes uncontrollable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ethical questions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of global debate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humanity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med">
    <p:split orient="horz" dir="ou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WTTC × Microsoft  ·  Introduction to AI  ·  January 2024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·  TRAINING METHODS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4415" y="274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AI Learns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731520" cy="457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primary approaches — and three training techniques that power them.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920240"/>
            <a:ext cx="109728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1031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(ML)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from large datasets and improves over time. Makes predictions and recognises patterns.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4290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forecasting · Image recognition · Speech recognition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920240"/>
            <a:ext cx="109728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1031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(DL)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260604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using artificial neural networks inspired by the human brain. Excels at complex tasks.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34290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generation · Drug discovery · Language processing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TRAINING TECHNIQUES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4370832"/>
            <a:ext cx="548640" cy="36576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0848" y="45720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448" y="484632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448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40968" y="4846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40968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labelled data — learns the correct answers.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340968" y="5715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cat vs. dog classifier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67048" y="45720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95648" y="4846320"/>
            <a:ext cx="640080" cy="64008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95648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27168" y="4846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27168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unlabelled data — finds patterns autonomously.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27168" y="5715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customer segmentation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53248" y="45720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81848" y="4846320"/>
            <a:ext cx="640080" cy="64008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81848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13368" y="4846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13368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and error with rewards — learns by doing.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113368" y="5715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AlphaGo, game-playing AI</a:t>
            </a:r>
            <a:endParaRPr lang="en-US" sz="1100" dirty="0"/>
          </a:p>
        </p:txBody>
      </p:sp>
    </p:spTree>
  </p:cSld>
  <p:clrMapOvr>
    <a:masterClrMapping/>
  </p:clrMapOvr>
  <p:transition xmlns:p="http://schemas.openxmlformats.org/presentationml/2006/main"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Computing Power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31520" cy="457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exponential trends fuelling the AI revolution — at a glance.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94015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5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·  KEY FACTS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94415" y="274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69468" y="2011680"/>
            <a:ext cx="5212080" cy="2103120"/>
          </a:xfrm>
          <a:prstGeom prst="roundRect">
            <a:avLst>
              <a:gd name="adj" fmla="val 6522"/>
            </a:avLst>
          </a:prstGeom>
          <a:solidFill>
            <a:srgbClr val="1E2761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9468" y="2011680"/>
            <a:ext cx="109728" cy="21031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9508" y="22402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175 ZB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1135228" y="3291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 BY 2025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35228" y="3611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175 billion laptops worth of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0148" y="2011680"/>
            <a:ext cx="5212080" cy="2103120"/>
          </a:xfrm>
          <a:prstGeom prst="roundRect">
            <a:avLst>
              <a:gd name="adj" fmla="val 6522"/>
            </a:avLst>
          </a:prstGeom>
          <a:solidFill>
            <a:srgbClr val="1E2761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0148" y="2011680"/>
            <a:ext cx="109728" cy="2103120"/>
          </a:xfrm>
          <a:prstGeom prst="rect">
            <a:avLst/>
          </a:prstGeom>
          <a:solidFill>
            <a:srgbClr val="3DA5A6"/>
          </a:solidFill>
          <a:ln w="12700">
            <a:solidFill>
              <a:srgbClr val="3DA5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0188" y="22402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29.3 B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6575908" y="3291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D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NETWORKED DEVICES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75908" y="3611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3× the global population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9468" y="4343400"/>
            <a:ext cx="5212080" cy="2103120"/>
          </a:xfrm>
          <a:prstGeom prst="roundRect">
            <a:avLst>
              <a:gd name="adj" fmla="val 6522"/>
            </a:avLst>
          </a:prstGeom>
          <a:solidFill>
            <a:srgbClr val="1E2761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468" y="4343400"/>
            <a:ext cx="109728" cy="21031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9508" y="45720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1135228" y="5623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IN CHATGPT TRAINING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5228" y="5943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Microsoft-built supercomputer, 2020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0148" y="4343400"/>
            <a:ext cx="5212080" cy="2103120"/>
          </a:xfrm>
          <a:prstGeom prst="roundRect">
            <a:avLst>
              <a:gd name="adj" fmla="val 6522"/>
            </a:avLst>
          </a:prstGeom>
          <a:solidFill>
            <a:srgbClr val="1E2761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4343400"/>
            <a:ext cx="109728" cy="21031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0188" y="45720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 T+</a:t>
            </a:r>
            <a:endParaRPr lang="en-US" sz="6400" dirty="0"/>
          </a:p>
        </p:txBody>
      </p:sp>
      <p:sp>
        <p:nvSpPr>
          <p:cNvPr id="26" name="Text 24"/>
          <p:cNvSpPr/>
          <p:nvPr/>
        </p:nvSpPr>
        <p:spPr>
          <a:xfrm>
            <a:off x="6575908" y="5623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VALUATION (2023)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75908" y="5943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Soaring demand for AI chips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WTTC × Microsoft  ·  Introduction to AI  ·  January 2024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·  GENERATIVE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4415" y="274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 — The Game Changer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731520" cy="457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creates new content — text, images, video, audio — from a single prompt.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83080"/>
            <a:ext cx="109728" cy="27432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GENERATIVE AI?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2860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that generates new content from a user prompt — based on patterns learned from massive training datasets.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6118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2017 paper 'Attention Is All You Need' introduced Transformers — the architecture powering today's AI chatbots.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754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MODELS &amp; CHATBOTS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507492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 </a:t>
            </a:r>
            <a:pPr indent="0" marL="0">
              <a:buNone/>
            </a:pPr>
            <a:r>
              <a:rPr lang="en-US" sz="1300" dirty="0">
                <a:solidFill>
                  <a:srgbClr val="C9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100M users in 2 months
</a:t>
            </a:r>
            <a:pPr indent="0" marL="0">
              <a:buNone/>
            </a:pPr>
            <a:r>
              <a:rPr lang="en-US" sz="1300" b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 </a:t>
            </a:r>
            <a:pPr indent="0" marL="0">
              <a:buNone/>
            </a:pPr>
            <a:r>
              <a:rPr lang="en-US" sz="1300" dirty="0">
                <a:solidFill>
                  <a:srgbClr val="C9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</a:t>
            </a:r>
            <a:pPr indent="0" marL="0">
              <a:buNone/>
            </a:pPr>
            <a:r>
              <a:rPr lang="en-US" sz="1300" b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 </a:t>
            </a:r>
            <a:pPr indent="0" marL="0">
              <a:buNone/>
            </a:pPr>
            <a:r>
              <a:rPr lang="en-US" sz="1300" dirty="0">
                <a:solidFill>
                  <a:srgbClr val="C9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</a:t>
            </a:r>
            <a:pPr indent="0" marL="0">
              <a:buNone/>
            </a:pPr>
            <a:r>
              <a:rPr lang="en-US" sz="1300" b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  </a:t>
            </a:r>
            <a:pPr indent="0" marL="0">
              <a:buNone/>
            </a:pPr>
            <a:r>
              <a:rPr lang="en-US" sz="1300" dirty="0">
                <a:solidFill>
                  <a:srgbClr val="C9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· </a:t>
            </a:r>
            <a:pPr indent="0" marL="0">
              <a:buNone/>
            </a:pPr>
            <a:r>
              <a:rPr lang="en-US" sz="1300" b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Ernie  </a:t>
            </a:r>
            <a:pPr indent="0" marL="0">
              <a:buNone/>
            </a:pPr>
            <a:r>
              <a:rPr lang="en-US" sz="1300" dirty="0">
                <a:solidFill>
                  <a:srgbClr val="C9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Baidu (China)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 AI CAN PRODUCE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2194560"/>
            <a:ext cx="54864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2276856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2276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6560" y="224942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0" y="224942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· Reports · Marketing · Business plans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0760" y="2907792"/>
            <a:ext cx="54864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299008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&lt;/&gt;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296265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0" y="296265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· Apps · Scripts · SQL queries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0760" y="3621024"/>
            <a:ext cx="54864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9632" y="3703320"/>
            <a:ext cx="457200" cy="45720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66560" y="36758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0" y="36758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· Product photos · Marketing visuals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80760" y="4334256"/>
            <a:ext cx="54864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9632" y="4416552"/>
            <a:ext cx="457200" cy="45720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♪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66560" y="4389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29600" y="4389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· Voice synthesis · Translations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080760" y="5047488"/>
            <a:ext cx="54864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99632" y="5129784"/>
            <a:ext cx="457200" cy="457200"/>
          </a:xfrm>
          <a:prstGeom prst="ellipse">
            <a:avLst/>
          </a:prstGeom>
          <a:solidFill>
            <a:srgbClr val="3DA5A6"/>
          </a:solidFill>
          <a:ln w="12700">
            <a:solidFill>
              <a:srgbClr val="3DA5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5129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▶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66560" y="510235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0" y="51023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videos · Ads · Animations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080760" y="5806440"/>
            <a:ext cx="5486400" cy="411480"/>
          </a:xfrm>
          <a:prstGeom prst="roundRect">
            <a:avLst>
              <a:gd name="adj" fmla="val 17778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80760" y="5806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 venture capital invested in Gen AI — first half of 2023 alone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WTTC × Microsoft  ·  Introduction to AI  ·  January 2024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·  LIMITATIONS &amp; RISKS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4415" y="274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Limitations, Hallucinations &amp; Risks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— but imperfect. Human oversight remains essential.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40680" cy="2468880"/>
          </a:xfrm>
          <a:prstGeom prst="roundRect">
            <a:avLst>
              <a:gd name="adj" fmla="val 4444"/>
            </a:avLst>
          </a:prstGeom>
          <a:solidFill>
            <a:srgbClr val="FFF4EE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45920" y="2057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HALLUCINATIONS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423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that look real but are incorrect.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8803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trained on enough data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noisy or dirty data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given enough context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given enough constraints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69480" y="2057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'BLACK BOX' PROBLEM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69480" y="2423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often can't explain how it reached a decision.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288036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developers can only verify the outputs — not the steps taken to get there. Explainable AI (XAI) is an active research area, turning ‘black boxes’ into ‘glass boxes’ to build trust.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BROADER SOCIETAL RISKS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846320"/>
            <a:ext cx="457200" cy="36576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502920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029200"/>
            <a:ext cx="2697480" cy="7315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212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DISINFORMATION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5778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Photorealistic deepfakes spreading misinformation.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520440" y="502920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0440" y="5029200"/>
            <a:ext cx="2697480" cy="7315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5212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DISPLACEMENT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03320" y="55778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Hollywood writers' strike was partly AI-related.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0" y="502920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5029200"/>
            <a:ext cx="2697480" cy="7315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5212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 &amp; COPYRIGHT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0" y="55778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over ownership of AI-generated content.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281160" y="502920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81160" y="5029200"/>
            <a:ext cx="2697480" cy="7315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64040" y="5212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GEO-POLITICAL TENSION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464040" y="55778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supply concentrated — TSMC holds 55% share.</a:t>
            </a:r>
            <a:endParaRPr lang="en-US" sz="1150" dirty="0"/>
          </a:p>
        </p:txBody>
      </p:sp>
    </p:spTree>
  </p:cSld>
  <p:clrMapOvr>
    <a:masterClrMapping/>
  </p:clrMapOvr>
  <p:transition xmlns:p="http://schemas.openxmlformats.org/presentationml/2006/main" spd="med">
    <p:split orient="horz" dir="ou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WTTC × Microsoft  ·  Introduction to AI  ·  January 2024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·  TRAVEL &amp; TOURISM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4415" y="274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 Travel &amp; Tourism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731520" cy="457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families of AI already reshaping how the industry operates.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6568" y="196596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568" y="196596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568" y="3200400"/>
            <a:ext cx="2697480" cy="137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63828" y="2194560"/>
            <a:ext cx="822960" cy="822960"/>
          </a:xfrm>
          <a:prstGeom prst="ellipse">
            <a:avLst/>
          </a:prstGeom>
          <a:solidFill>
            <a:srgbClr val="F8F5EE"/>
          </a:solidFill>
          <a:ln w="12700">
            <a:solidFill>
              <a:srgbClr val="F8F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63828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⌘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18008" y="30449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SYSTEMS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0888" y="356616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concierge &amp; trip planning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itinerary generation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booking integration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customer support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06928" y="196596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06928" y="196596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06928" y="3200400"/>
            <a:ext cx="2697480" cy="13716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44188" y="2194560"/>
            <a:ext cx="822960" cy="822960"/>
          </a:xfrm>
          <a:prstGeom prst="ellipse">
            <a:avLst/>
          </a:prstGeom>
          <a:solidFill>
            <a:srgbClr val="F8F5EE"/>
          </a:solidFill>
          <a:ln w="12700">
            <a:solidFill>
              <a:srgbClr val="F8F5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44188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3398368" y="30449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81248" y="356616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prediction &amp; crew scheduling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based on demand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occupancy rate forecasting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Weather-based recommendations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87288" y="196596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7288" y="196596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7288" y="3200400"/>
            <a:ext cx="269748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24548" y="2194560"/>
            <a:ext cx="822960" cy="822960"/>
          </a:xfrm>
          <a:prstGeom prst="ellipse">
            <a:avLst/>
          </a:prstGeom>
          <a:solidFill>
            <a:srgbClr val="F8F5EE"/>
          </a:solidFill>
          <a:ln w="12700">
            <a:solidFill>
              <a:srgbClr val="F8F5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24548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278728" y="30449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61608" y="356616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for 24/7 customer service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content creation at scale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review response systems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social media analysis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067648" y="196596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67648" y="196596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67648" y="3200400"/>
            <a:ext cx="2697480" cy="13716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04908" y="2194560"/>
            <a:ext cx="822960" cy="822960"/>
          </a:xfrm>
          <a:prstGeom prst="ellipse">
            <a:avLst/>
          </a:prstGeom>
          <a:solidFill>
            <a:srgbClr val="F8F5EE"/>
          </a:solidFill>
          <a:ln w="12700">
            <a:solidFill>
              <a:srgbClr val="F8F5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04908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▦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9159088" y="30449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ANALYTICS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341968" y="356616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sentiment tracking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personalisation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detection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recognition for attractions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WTTC × Microsoft  ·  Introduction to AI  ·  January 2024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 ·  DIGITAL DIVIDE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4415" y="274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Digital Divide &amp; AI Skills Gap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must bridge the digital divide — not widen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6568" y="17830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568" y="1783080"/>
            <a:ext cx="2697480" cy="9144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568" y="1947672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26568" y="2697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CONNECTED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3728" y="2971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the world offline in 2022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06928" y="17830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6928" y="1783080"/>
            <a:ext cx="269748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6928" y="1947672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 B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3306928" y="2697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INTERNET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44088" y="2971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no access to internet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7288" y="17830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7288" y="1783080"/>
            <a:ext cx="2697480" cy="914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7288" y="1947672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187288" y="2697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AI TRAINING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24448" y="2971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workers in 2023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67648" y="17830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7648" y="1783080"/>
            <a:ext cx="26974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67648" y="1947672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20×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9067648" y="2697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JOB POSTINGS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04808" y="2971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observed in 2023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3611880"/>
            <a:ext cx="5440680" cy="2606040"/>
          </a:xfrm>
          <a:prstGeom prst="roundRect">
            <a:avLst>
              <a:gd name="adj" fmla="val 4211"/>
            </a:avLst>
          </a:prstGeom>
          <a:solidFill>
            <a:srgbClr val="FFF4EE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CHALLENGES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" y="411480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low-income economies, mobile broadband costs ~9% of income (6× the global average)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in least-developed countries are NOT connected to the internet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where AI training exists, quality drops at lower seniority levels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workforce may need to re-skill in next 3 years (IBM, 2023)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3611880"/>
            <a:ext cx="5303520" cy="2606040"/>
          </a:xfrm>
          <a:prstGeom prst="roundRect">
            <a:avLst>
              <a:gd name="adj" fmla="val 4211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SOLUTIONS &amp; RESOURCES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92240" y="4206240"/>
            <a:ext cx="274320" cy="27432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206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4160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Training  </a:t>
            </a:r>
            <a:pPr indent="0" marL="0">
              <a:buNone/>
            </a:pPr>
            <a:r>
              <a:rPr lang="en-US" sz="1200" dirty="0">
                <a:solidFill>
                  <a:srgbClr val="C9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 · Google Grow · IBM SkillsBuild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92240" y="4709160"/>
            <a:ext cx="274320" cy="27432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4709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4663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AI Initiative  </a:t>
            </a:r>
            <a:pPr indent="0" marL="0">
              <a:buNone/>
            </a:pPr>
            <a:r>
              <a:rPr lang="en-US" sz="1200" dirty="0">
                <a:solidFill>
                  <a:srgbClr val="C9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2M people in AI by end of 2026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92240" y="5212080"/>
            <a:ext cx="274320" cy="27432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5212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0" y="5166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Development  </a:t>
            </a:r>
            <a:pPr indent="0" marL="0">
              <a:buNone/>
            </a:pPr>
            <a:r>
              <a:rPr lang="en-US" sz="1200" dirty="0">
                <a:solidFill>
                  <a:srgbClr val="C9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&amp; Canada boosting AI skills in poorest nations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92240" y="5715000"/>
            <a:ext cx="274320" cy="27432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5715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58000" y="5669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Learning  </a:t>
            </a:r>
            <a:pPr indent="0" marL="0">
              <a:buNone/>
            </a:pPr>
            <a:r>
              <a:rPr lang="en-US" sz="1200" dirty="0">
                <a:solidFill>
                  <a:srgbClr val="C9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training, co-mentoring &amp; workshops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WTTC × Microsoft  ·  Introduction to AI  ·  January 2024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 ·  GLOSSARY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4415" y="274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AI Terminology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731520" cy="457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Quick-reference glossary for the terms you'll meet most often.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965960"/>
            <a:ext cx="73152" cy="71323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3911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33172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telling computers how to perform tasks — the brains of AI.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96596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965960"/>
            <a:ext cx="73152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03911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233172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confidently produces incorrect or fabricated information.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724912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724912"/>
            <a:ext cx="73152" cy="71323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79806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09067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learns from data to make predictions and improve over time.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724912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724912"/>
            <a:ext cx="73152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79806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AI (XAI)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309067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making AI decision-making transparent and understandable.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483864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483864"/>
            <a:ext cx="73152" cy="71323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55701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384962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using neural networks; powers complex AI tasks.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483864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483864"/>
            <a:ext cx="73152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55701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GPU / TPU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37960" y="384962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chips for parallel/matrix processing in AI training.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242816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242816"/>
            <a:ext cx="73152" cy="71323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3159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68680" y="460857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— the engine behind chatbots like ChatGPT.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4242816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4242816"/>
            <a:ext cx="73152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43159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537960" y="460857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AI objectives match human values and intended goals.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5001768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5001768"/>
            <a:ext cx="73152" cy="71323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50749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Model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68680" y="53675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trained on broad data, adaptable to many downstream tasks.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5001768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0" y="5001768"/>
            <a:ext cx="73152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50749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537960" y="53675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or constraints preventing AI from causing harm or misbehaving.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" y="576072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" y="5760720"/>
            <a:ext cx="73152" cy="71323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" y="58338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68680" y="612648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inputs carefully to get better, safer AI outputs.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09360" y="576072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09360" y="5760720"/>
            <a:ext cx="73152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37960" y="58338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Divide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537960" y="612648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those with and without access to digital technology.</a:t>
            </a:r>
            <a:endParaRPr lang="en-US" sz="11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19695" y="3657600"/>
            <a:ext cx="7315200" cy="7315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34095" y="4572000"/>
            <a:ext cx="5486400" cy="548640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914400"/>
            <a:ext cx="1097280" cy="457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ideas to carry forward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594360" cy="5943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17320" y="212140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rests on three pillars — algorithms, data and compute. As all three improve, capability grows exponentially.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594360" cy="5943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80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17320" y="28986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today is Narrow AI. True General AI (AGI) does not yet exist.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94360" cy="5943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57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17320" y="367588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today's revolution — but hallucinations mean human oversight remains essential.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434840"/>
            <a:ext cx="594360" cy="5943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34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17320" y="44531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tourism benefits from Expert Systems, Predictive AI and Generative AI for personalisation, operations and service.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594360" cy="5943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212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17320" y="523036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Divide is real: 34% of the world lacks internet access. Responsible AI must bridge, not widen, this gap.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6035040"/>
            <a:ext cx="54864" cy="5029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6035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9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WTTC × Microsoft  ·  January 2024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76895" y="6035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AI — WTTC × Microsoft (2024)</dc:title>
  <dc:subject>PptxGenJS Presentation</dc:subject>
  <dc:creator>WTTC × Microsoft</dc:creator>
  <cp:lastModifiedBy>WTTC × Microsoft</cp:lastModifiedBy>
  <cp:revision>1</cp:revision>
  <dcterms:created xsi:type="dcterms:W3CDTF">2026-05-20T08:34:01Z</dcterms:created>
  <dcterms:modified xsi:type="dcterms:W3CDTF">2026-05-20T08:34:01Z</dcterms:modified>
</cp:coreProperties>
</file>